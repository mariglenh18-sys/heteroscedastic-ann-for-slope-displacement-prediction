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1" d="100"/>
          <a:sy n="71" d="100"/>
        </p:scale>
        <p:origin x="487" y="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666D4C-E7A4-4F52-A761-F81311E295CB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A8A508-3B69-4419-981A-14D4C16401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623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A13394-FB0D-6563-B40E-E09EB88C4A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A57D4E-DAC1-00BB-C88B-DE22D8D29D4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56F1D-9567-6380-4759-09488A232A71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E65260C-7D5A-48A9-A2AB-3B1AE45BD859}" type="slidenum">
              <a:t>2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3A7A0-6C92-EB74-F1DB-91EDB2A42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CE8F37-4482-6CD0-3472-665470019D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AF61DD-1505-C44F-9FAC-1AE5FD0BE26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58252-C827-84A3-2596-FEFCE2F044CF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E65260C-7D5A-48A9-A2AB-3B1AE45BD859}" type="slidenum">
              <a:t>3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1738601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FA7FC-6FE6-E5E0-17F1-D822B3560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2479A4-3328-C2B8-4E29-7CA0B43F44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A8D639-BBB0-0804-29E7-2D8A693E1A1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14F0C-FCB3-00E1-FCC0-5E8749C0D62F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E65260C-7D5A-48A9-A2AB-3B1AE45BD859}" type="slidenum">
              <a:t>4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468719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89D53-7AA6-A213-34D8-1EFBE5FBD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05D2E5-C540-0457-DF25-963300347A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5C4D90-EB8A-563E-1D2F-6BF05C74E56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C5C9A7-DC89-5741-35D3-131E3902D798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E65260C-7D5A-48A9-A2AB-3B1AE45BD859}" type="slidenum">
              <a:t>5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7893991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ED3AC-2222-8F4A-1049-58DBD8A3F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C5AE5C-EF5D-08C7-4E81-E59C05F258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1736D7-C0B2-E80E-4310-8F38BFAAF24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EF630-72D7-269A-C81E-990F099A346A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E65260C-7D5A-48A9-A2AB-3B1AE45BD859}" type="slidenum">
              <a:t>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8717464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A04E2-1BE9-D31E-0B45-0C8173B5A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80EE9-6956-9BFF-3BA3-7E03F6960E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154D33-54E6-86DD-7E45-DFBA1522B7D3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A3BC7-25F1-A222-FEDB-E9203EA5FB79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E65260C-7D5A-48A9-A2AB-3B1AE45BD859}" type="slidenum">
              <a:t>7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5141646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520D9-B4B3-1CC1-C330-F1ECAB40BF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87D69E-CFF1-FC55-F892-076910CBA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AF8C0-8E8F-0945-DA84-BE55C7187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36F0B-572A-4ACC-B88C-09E15F0DF240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A10BE-699E-E46B-19C1-7338DF0F6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0ADAD-E1AB-9C1E-F482-379F62A85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B9B7A-9F3A-40D0-A8DC-A7D5A59478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029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9D7D9-3CE7-C85A-3270-CDB5DF14D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E60383-0169-8B93-7FED-D33610C74F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5C52B-64AD-B511-766A-90E1E5B06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36F0B-572A-4ACC-B88C-09E15F0DF240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9B6D7-5E45-A432-BFEE-33C637457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D1F01-CECB-028F-205E-965753065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B9B7A-9F3A-40D0-A8DC-A7D5A59478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1799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E1860-D5A0-16F1-CD78-7EC300C61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7B430-83D9-821A-532B-3FCEF734F8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71FB90-0400-F8BF-05E9-E3171C82C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36F0B-572A-4ACC-B88C-09E15F0DF240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47F55-E7B0-B246-EBDC-214506C1D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CDC943-4D03-20A5-C88B-42F76E8F7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B9B7A-9F3A-40D0-A8DC-A7D5A59478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52024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D5C1E-2B6A-BBB9-8629-4DB82FAEF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9D6E0-7C2C-BF93-F172-C3EF24C9A7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2C603F-AF83-BEC1-C48F-DE2750AFB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C03F48-3FC6-D0C1-E6BD-6ED6C89D3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36F0B-572A-4ACC-B88C-09E15F0DF240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D9A1C5-475A-F4A7-3C92-3F3FA7448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DC4ED0-4CCD-B496-8EEB-2BA7F0B8A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B9B7A-9F3A-40D0-A8DC-A7D5A59478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8131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5EDA2-36AE-8756-B1F3-C2F6FCF8D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BF350-3CBE-F177-6B37-1C195CD5A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1B35FB-6D9D-F73F-E69F-92E199B1CD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C009C-FF34-6791-7BE3-0B838A1D47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B66B1B-EA83-A6E6-5AAC-0F5C32884F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768ECC-90C6-D2D0-F1C2-149F380C7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36F0B-572A-4ACC-B88C-09E15F0DF240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22F4DA-8BFB-378F-B4D8-0F5A8BF22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8C45DF-FFF9-B1F2-49A9-CD18A24F5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B9B7A-9F3A-40D0-A8DC-A7D5A59478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5961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6D979-B571-9BAE-AD5F-0A452109A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6677E3-1354-1B0E-FE24-84346430E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36F0B-572A-4ACC-B88C-09E15F0DF240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CF9EB-B40B-6816-4612-7541D3864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F4FEBB-3221-ACE4-660D-A54F68652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B9B7A-9F3A-40D0-A8DC-A7D5A59478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6790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08D6A1-B6C1-02D7-F892-3C0B4F70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36F0B-572A-4ACC-B88C-09E15F0DF240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C9C54F-D302-EA93-FF3F-CA5C7B932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9BA042-C841-CB03-82C4-E1B184528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B9B7A-9F3A-40D0-A8DC-A7D5A59478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3026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C2D77-E3AE-517A-53F4-9528077E5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E7AB5-AFCF-ED2E-E322-CB9DBDEEE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0E7C12-9ACB-C807-6C0A-17147ECE88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EE00E5-7E38-4393-FC31-7E0665130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36F0B-572A-4ACC-B88C-09E15F0DF240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4654C-081A-C8A3-7818-1C2F24730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83CFDF-E674-DD84-EF0A-7B1F81483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B9B7A-9F3A-40D0-A8DC-A7D5A59478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6377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B072D-1EF0-22AB-2F3B-EEADD0FD3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4A296E-B698-069B-E154-E6C8BE4435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9F7028-A83B-5F8E-2656-BA31AE2C3B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D9AD46-4567-3B83-8790-61EAA137A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36F0B-572A-4ACC-B88C-09E15F0DF240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7A8087-9EFD-560B-CE0E-A1CFD9131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4EF665-6E3A-3489-EE49-505E1941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B9B7A-9F3A-40D0-A8DC-A7D5A59478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9322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2B5C0-CCFB-F17A-F9AE-0E6D46A98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F5D50B-50CE-7BBF-8F93-C7DD32B814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1FE63-9FC7-BF82-B630-9908CAB12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36F0B-572A-4ACC-B88C-09E15F0DF240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C9B5A-CE72-E740-0867-87E51F078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6B268-0074-C5D8-33D4-FF5EC8959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B9B7A-9F3A-40D0-A8DC-A7D5A59478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3872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F1B398-3D16-25EB-BA4D-750D5AB32D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3A3031-4909-B9FA-BB81-4A0DCA76D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6EA28-4FD8-BFA4-529C-412668E5F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36F0B-572A-4ACC-B88C-09E15F0DF240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4A6A5-3265-93C2-9021-B85B3351B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1FD37-82DB-B951-8225-7D47BE1C6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B9B7A-9F3A-40D0-A8DC-A7D5A59478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5394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F45155-2FAC-97AE-9B7D-39DF32EA6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4ECD7-1252-9507-F7A9-489B8A1F4B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A9B9B-3BD5-D8D3-E9E7-5CE42DE26A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C36F0B-572A-4ACC-B88C-09E15F0DF240}" type="datetimeFigureOut">
              <a:rPr lang="en-GB" smtClean="0"/>
              <a:t>12/12/2025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EAE040-49FC-3D1C-00F2-CF657F5A72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E8AAA-EDE8-1DC0-BCAC-B4EC83AAE4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7B9B7A-9F3A-40D0-A8DC-A7D5A594780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4332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F5079250-4BB7-AF5A-D441-49B175D8D1F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2061606"/>
            <a:ext cx="9144000" cy="2387598"/>
          </a:xfrm>
        </p:spPr>
        <p:txBody>
          <a:bodyPr/>
          <a:lstStyle/>
          <a:p>
            <a:pPr lvl="0"/>
            <a:r>
              <a:rPr lang="en-US" sz="2200" dirty="0"/>
              <a:t>Implementation and attempted improvement of:</a:t>
            </a:r>
            <a:br>
              <a:rPr lang="en-US" sz="2200" dirty="0"/>
            </a:br>
            <a:br>
              <a:rPr lang="en-US" sz="2900" dirty="0"/>
            </a:br>
            <a:r>
              <a:rPr lang="en-US" sz="3600" dirty="0"/>
              <a:t>“A comparison of artificial neural network and classical regression models for earthquake-induced slope displacements”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C236E5D7-6F60-BB14-7AB4-E5A991620AE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4690734"/>
            <a:ext cx="9144000" cy="1655758"/>
          </a:xfrm>
        </p:spPr>
        <p:txBody>
          <a:bodyPr/>
          <a:lstStyle/>
          <a:p>
            <a:pPr lvl="0"/>
            <a:r>
              <a:rPr lang="en-US" sz="2000" dirty="0"/>
              <a:t>Original paper by: </a:t>
            </a:r>
            <a:r>
              <a:rPr lang="en-US" sz="2000" dirty="0" err="1"/>
              <a:t>Youngkyu</a:t>
            </a:r>
            <a:r>
              <a:rPr lang="en-US" sz="2000" dirty="0"/>
              <a:t> Cho, Farid </a:t>
            </a:r>
            <a:r>
              <a:rPr lang="en-US" sz="2000" dirty="0" err="1"/>
              <a:t>Khosravikia</a:t>
            </a:r>
            <a:r>
              <a:rPr lang="en-US" sz="2000" dirty="0"/>
              <a:t>, Ellen M. Rathje</a:t>
            </a:r>
          </a:p>
          <a:p>
            <a:pPr lvl="0"/>
            <a:r>
              <a:rPr lang="en-US" sz="2000" dirty="0"/>
              <a:t>Report by: Mariglen Hutka (mh64878)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9089D1-55C7-B503-83C6-464475E4A306}"/>
              </a:ext>
            </a:extLst>
          </p:cNvPr>
          <p:cNvSpPr/>
          <p:nvPr/>
        </p:nvSpPr>
        <p:spPr>
          <a:xfrm>
            <a:off x="0" y="0"/>
            <a:ext cx="12191996" cy="1920240"/>
          </a:xfrm>
          <a:prstGeom prst="rect">
            <a:avLst/>
          </a:prstGeom>
          <a:solidFill>
            <a:srgbClr val="FF9900"/>
          </a:solidFill>
          <a:ln w="19046" cap="flat">
            <a:solidFill>
              <a:srgbClr val="CC79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5F3286-B42C-45F7-F547-47AF5C80CE96}"/>
              </a:ext>
            </a:extLst>
          </p:cNvPr>
          <p:cNvSpPr/>
          <p:nvPr/>
        </p:nvSpPr>
        <p:spPr>
          <a:xfrm>
            <a:off x="0" y="5723065"/>
            <a:ext cx="12191996" cy="1134934"/>
          </a:xfrm>
          <a:prstGeom prst="rect">
            <a:avLst/>
          </a:prstGeom>
          <a:solidFill>
            <a:srgbClr val="FF9900"/>
          </a:solidFill>
          <a:ln w="19046" cap="flat">
            <a:solidFill>
              <a:srgbClr val="CC79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10" name="Graphic 2">
            <a:extLst>
              <a:ext uri="{FF2B5EF4-FFF2-40B4-BE49-F238E27FC236}">
                <a16:creationId xmlns:a16="http://schemas.microsoft.com/office/drawing/2014/main" id="{4DB0B38A-A66E-F26D-A7E5-E22F20CC63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29544" y="114492"/>
            <a:ext cx="4732916" cy="1691255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398976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5EFB9AD7-005D-E1E1-BB63-F0C10BAD5830}"/>
              </a:ext>
            </a:extLst>
          </p:cNvPr>
          <p:cNvSpPr/>
          <p:nvPr/>
        </p:nvSpPr>
        <p:spPr>
          <a:xfrm>
            <a:off x="0" y="0"/>
            <a:ext cx="12191996" cy="1498061"/>
          </a:xfrm>
          <a:prstGeom prst="rect">
            <a:avLst/>
          </a:prstGeom>
          <a:solidFill>
            <a:srgbClr val="FF9900"/>
          </a:solidFill>
          <a:ln w="19046" cap="flat">
            <a:solidFill>
              <a:srgbClr val="CC79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517029E-F3F5-F0E8-B086-F3AE6114A1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36034"/>
            <a:ext cx="10515600" cy="1325559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Heteroscedastic ANN for Slope Displacement Prediction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EF5F1C7-F6FE-09E6-825E-7CC12611D6F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198" y="2413583"/>
            <a:ext cx="10515600" cy="4678902"/>
          </a:xfrm>
        </p:spPr>
        <p:txBody>
          <a:bodyPr/>
          <a:lstStyle/>
          <a:p>
            <a:pPr lvl="0">
              <a:buChar char="-"/>
            </a:pPr>
            <a:r>
              <a:rPr lang="en-US" sz="2400" dirty="0"/>
              <a:t>Data source: </a:t>
            </a:r>
            <a:r>
              <a:rPr lang="en-US" sz="2400" dirty="0" err="1"/>
              <a:t>DesignSafe</a:t>
            </a:r>
            <a:r>
              <a:rPr lang="en-US" sz="2400" dirty="0"/>
              <a:t>-CI (PRJ-3028)</a:t>
            </a:r>
          </a:p>
          <a:p>
            <a:pPr lvl="0">
              <a:buChar char="-"/>
            </a:pPr>
            <a:r>
              <a:rPr lang="en-US" sz="2400" dirty="0"/>
              <a:t>Simulations using LS-DYNA: Earthquake-Induced Permanent Displacements</a:t>
            </a:r>
          </a:p>
          <a:p>
            <a:pPr lvl="0">
              <a:buChar char="-"/>
            </a:pPr>
            <a:r>
              <a:rPr lang="en-US" sz="2400" dirty="0"/>
              <a:t>Based on Cho et al. (2022), Soil Dynamics &amp; Earthquake Engineering</a:t>
            </a:r>
          </a:p>
          <a:p>
            <a:pPr lvl="0">
              <a:buChar char="-"/>
            </a:pPr>
            <a:r>
              <a:rPr lang="en-US" sz="2400" dirty="0" err="1"/>
              <a:t>Pytorch</a:t>
            </a:r>
            <a:r>
              <a:rPr lang="en-US" sz="2400" dirty="0"/>
              <a:t> heteroscedastic ANN  predicts </a:t>
            </a:r>
            <a:r>
              <a:rPr lang="el-GR" sz="2400" dirty="0"/>
              <a:t>μ</a:t>
            </a:r>
            <a:r>
              <a:rPr lang="en-US" sz="2400" dirty="0"/>
              <a:t>(x) and </a:t>
            </a:r>
            <a:r>
              <a:rPr lang="el-GR" sz="2400" dirty="0"/>
              <a:t>σ(</a:t>
            </a:r>
            <a:r>
              <a:rPr lang="en-US" sz="2400" dirty="0"/>
              <a:t>x)</a:t>
            </a:r>
          </a:p>
          <a:p>
            <a:pPr lvl="0">
              <a:buChar char="-"/>
            </a:pPr>
            <a:r>
              <a:rPr lang="en-US" sz="2400" dirty="0"/>
              <a:t>Efficient training with early stopping (approximately 440 epochs)</a:t>
            </a:r>
          </a:p>
          <a:p>
            <a:pPr lvl="0">
              <a:buChar char="-"/>
            </a:pPr>
            <a:r>
              <a:rPr lang="en-US" sz="2400" dirty="0" err="1"/>
              <a:t>GitHub_link_code</a:t>
            </a:r>
            <a:r>
              <a:rPr lang="en-US" sz="2400" dirty="0"/>
              <a:t>: https://github.com/mariglenh18-sys/Heteroscedastic-ANN-for-Slope-Displacement-Prediction.git</a:t>
            </a:r>
          </a:p>
          <a:p>
            <a:pPr lvl="0">
              <a:buChar char="-"/>
            </a:pPr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193D8D-6427-E811-89CA-6C06869C390D}"/>
              </a:ext>
            </a:extLst>
          </p:cNvPr>
          <p:cNvSpPr/>
          <p:nvPr/>
        </p:nvSpPr>
        <p:spPr>
          <a:xfrm>
            <a:off x="0" y="5723065"/>
            <a:ext cx="12191996" cy="1134934"/>
          </a:xfrm>
          <a:prstGeom prst="rect">
            <a:avLst/>
          </a:prstGeom>
          <a:solidFill>
            <a:srgbClr val="FF9900"/>
          </a:solidFill>
          <a:ln w="19046" cap="flat">
            <a:solidFill>
              <a:srgbClr val="CC79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48A06-0CED-FBD7-EFFE-631C9181D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575B4F4C-FD87-063A-7C11-712DBB0D3032}"/>
              </a:ext>
            </a:extLst>
          </p:cNvPr>
          <p:cNvSpPr/>
          <p:nvPr/>
        </p:nvSpPr>
        <p:spPr>
          <a:xfrm>
            <a:off x="0" y="0"/>
            <a:ext cx="12191996" cy="1498061"/>
          </a:xfrm>
          <a:prstGeom prst="rect">
            <a:avLst/>
          </a:prstGeom>
          <a:solidFill>
            <a:srgbClr val="FF9900"/>
          </a:solidFill>
          <a:ln w="19046" cap="flat">
            <a:solidFill>
              <a:srgbClr val="CC79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3D172CE-DD66-2425-5003-CA5136943B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36034"/>
            <a:ext cx="10515600" cy="1325559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Key Methodological Differences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BCCA8DB-B5EB-B1FA-1083-9F785C1CF75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198" y="2413583"/>
            <a:ext cx="10515600" cy="4678902"/>
          </a:xfrm>
        </p:spPr>
        <p:txBody>
          <a:bodyPr/>
          <a:lstStyle/>
          <a:p>
            <a:pPr lvl="0">
              <a:buChar char="-"/>
            </a:pPr>
            <a:r>
              <a:rPr lang="en-US" sz="2400" dirty="0"/>
              <a:t>Original ANN1 (Cho et al. 2022): </a:t>
            </a:r>
            <a:r>
              <a:rPr lang="en-US" sz="2400" dirty="0" err="1"/>
              <a:t>TensroFlow</a:t>
            </a:r>
            <a:r>
              <a:rPr lang="en-US" sz="2400" dirty="0"/>
              <a:t> (only mean </a:t>
            </a:r>
            <a:r>
              <a:rPr lang="el-GR" sz="2400" dirty="0"/>
              <a:t>μ</a:t>
            </a:r>
            <a:r>
              <a:rPr lang="en-US" sz="2400" dirty="0"/>
              <a:t>(x))</a:t>
            </a:r>
          </a:p>
          <a:p>
            <a:pPr lvl="0">
              <a:buChar char="-"/>
            </a:pPr>
            <a:r>
              <a:rPr lang="en-US" sz="2400" dirty="0"/>
              <a:t>This model: </a:t>
            </a:r>
            <a:r>
              <a:rPr lang="en-US" sz="2400" dirty="0" err="1"/>
              <a:t>PyTorch</a:t>
            </a:r>
            <a:r>
              <a:rPr lang="en-US" sz="2400" dirty="0"/>
              <a:t> heteroscedastic ANN (</a:t>
            </a:r>
            <a:r>
              <a:rPr lang="el-GR" sz="2400" dirty="0"/>
              <a:t>μ(</a:t>
            </a:r>
            <a:r>
              <a:rPr lang="en-US" sz="2400" dirty="0"/>
              <a:t>x) and </a:t>
            </a:r>
            <a:r>
              <a:rPr lang="el-GR" sz="2400" dirty="0"/>
              <a:t>σ</a:t>
            </a:r>
            <a:r>
              <a:rPr lang="en-US" sz="2400" dirty="0"/>
              <a:t>(x)</a:t>
            </a:r>
          </a:p>
          <a:p>
            <a:pPr lvl="0">
              <a:buChar char="-"/>
            </a:pPr>
            <a:r>
              <a:rPr lang="en-US" sz="2400" dirty="0"/>
              <a:t>Loss: Gaussian Negative Log-Likelihood (NLL)</a:t>
            </a:r>
          </a:p>
          <a:p>
            <a:pPr lvl="0">
              <a:buChar char="-"/>
            </a:pPr>
            <a:r>
              <a:rPr lang="en-US" sz="2400" dirty="0"/>
              <a:t>Learn aleatory variability directly, not from residuals</a:t>
            </a:r>
          </a:p>
          <a:p>
            <a:pPr lvl="0">
              <a:buChar char="-"/>
            </a:pPr>
            <a:r>
              <a:rPr lang="en-US" sz="2400" dirty="0"/>
              <a:t>Adds full probabilistic predictive capability</a:t>
            </a:r>
          </a:p>
          <a:p>
            <a:pPr lvl="0">
              <a:buChar char="-"/>
            </a:pPr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D50267-5424-0652-4690-FA9A501A7C85}"/>
              </a:ext>
            </a:extLst>
          </p:cNvPr>
          <p:cNvSpPr/>
          <p:nvPr/>
        </p:nvSpPr>
        <p:spPr>
          <a:xfrm>
            <a:off x="0" y="5723065"/>
            <a:ext cx="12191996" cy="1134934"/>
          </a:xfrm>
          <a:prstGeom prst="rect">
            <a:avLst/>
          </a:prstGeom>
          <a:solidFill>
            <a:srgbClr val="FF9900"/>
          </a:solidFill>
          <a:ln w="19046" cap="flat">
            <a:solidFill>
              <a:srgbClr val="CC79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570659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A65B74-4563-3413-7AB1-1D3A3DF16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0B5D1606-9100-5CD9-A377-19F1DD81B719}"/>
              </a:ext>
            </a:extLst>
          </p:cNvPr>
          <p:cNvSpPr/>
          <p:nvPr/>
        </p:nvSpPr>
        <p:spPr>
          <a:xfrm>
            <a:off x="0" y="0"/>
            <a:ext cx="12191996" cy="1498061"/>
          </a:xfrm>
          <a:prstGeom prst="rect">
            <a:avLst/>
          </a:prstGeom>
          <a:solidFill>
            <a:srgbClr val="FF9900"/>
          </a:solidFill>
          <a:ln w="19046" cap="flat">
            <a:solidFill>
              <a:srgbClr val="CC79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3ACE194-1F74-ED76-B719-D897F4A05B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36034"/>
            <a:ext cx="10515600" cy="1325559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Model Loss Function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629EC9-057A-A9B0-07C2-D73369C35DB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198" y="2299283"/>
            <a:ext cx="10515600" cy="577267"/>
          </a:xfrm>
        </p:spPr>
        <p:txBody>
          <a:bodyPr/>
          <a:lstStyle/>
          <a:p>
            <a:pPr lvl="0">
              <a:buChar char="-"/>
            </a:pPr>
            <a:r>
              <a:rPr lang="en-US" sz="2400" dirty="0"/>
              <a:t>Gaussian NLL used for training:</a:t>
            </a:r>
          </a:p>
          <a:p>
            <a:pPr lvl="0">
              <a:buChar char="-"/>
            </a:pPr>
            <a:endParaRPr lang="en-US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7DD381-D507-A1A2-8FAE-316E5844E5D5}"/>
              </a:ext>
            </a:extLst>
          </p:cNvPr>
          <p:cNvSpPr/>
          <p:nvPr/>
        </p:nvSpPr>
        <p:spPr>
          <a:xfrm>
            <a:off x="0" y="5723065"/>
            <a:ext cx="12191996" cy="1134934"/>
          </a:xfrm>
          <a:prstGeom prst="rect">
            <a:avLst/>
          </a:prstGeom>
          <a:solidFill>
            <a:srgbClr val="FF9900"/>
          </a:solidFill>
          <a:ln w="19046" cap="flat">
            <a:solidFill>
              <a:srgbClr val="CC79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pic>
        <p:nvPicPr>
          <p:cNvPr id="8" name="Picture 7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CA196676-AE11-4F65-AEFD-E8BF959B6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277" y="2154512"/>
            <a:ext cx="2955815" cy="866808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613416D-6FD3-7007-342E-83F28F24ED17}"/>
              </a:ext>
            </a:extLst>
          </p:cNvPr>
          <p:cNvSpPr txBox="1">
            <a:spLocks/>
          </p:cNvSpPr>
          <p:nvPr/>
        </p:nvSpPr>
        <p:spPr>
          <a:xfrm>
            <a:off x="838198" y="3022782"/>
            <a:ext cx="10515600" cy="22921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-"/>
            </a:pPr>
            <a:r>
              <a:rPr lang="en-US" sz="2400" dirty="0"/>
              <a:t>Ensures </a:t>
            </a:r>
            <a:r>
              <a:rPr lang="el-GR" sz="2400" dirty="0"/>
              <a:t>σ</a:t>
            </a:r>
            <a:r>
              <a:rPr lang="en-US" sz="2400" dirty="0"/>
              <a:t>(x) &gt; 0 via </a:t>
            </a:r>
            <a:r>
              <a:rPr lang="en-US" sz="2400" dirty="0" err="1"/>
              <a:t>softplus</a:t>
            </a:r>
            <a:r>
              <a:rPr lang="en-US" sz="2400" dirty="0"/>
              <a:t> activation</a:t>
            </a:r>
          </a:p>
          <a:p>
            <a:pPr>
              <a:buFont typeface="Arial" panose="020B0604020202020204" pitchFamily="34" charset="0"/>
              <a:buChar char="-"/>
            </a:pPr>
            <a:r>
              <a:rPr lang="en-US" sz="2400" dirty="0"/>
              <a:t>Penalizes both prediction error and underestimation of uncertainty</a:t>
            </a:r>
          </a:p>
          <a:p>
            <a:pPr>
              <a:buFont typeface="Arial" panose="020B0604020202020204" pitchFamily="34" charset="0"/>
              <a:buChar char="-"/>
            </a:pPr>
            <a:r>
              <a:rPr lang="en-US" sz="2400" dirty="0"/>
              <a:t>Allows modeling input-dependent variability</a:t>
            </a:r>
          </a:p>
          <a:p>
            <a:pPr>
              <a:buFont typeface="Arial" panose="020B0604020202020204" pitchFamily="34" charset="0"/>
              <a:buChar char="-"/>
            </a:pPr>
            <a:endParaRPr lang="en-US" sz="2400" dirty="0"/>
          </a:p>
          <a:p>
            <a:pPr>
              <a:buFont typeface="Arial" panose="020B0604020202020204" pitchFamily="34" charset="0"/>
              <a:buChar char="-"/>
            </a:pPr>
            <a:endParaRPr lang="en-US" sz="2400" dirty="0"/>
          </a:p>
          <a:p>
            <a:pPr>
              <a:buFont typeface="Arial" panose="020B0604020202020204" pitchFamily="34" charset="0"/>
              <a:buChar char="-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42105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E0054-8412-B6F9-0AF5-D70086B85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A3FF5A36-54A1-88BE-2BD1-B229F49E007E}"/>
              </a:ext>
            </a:extLst>
          </p:cNvPr>
          <p:cNvSpPr/>
          <p:nvPr/>
        </p:nvSpPr>
        <p:spPr>
          <a:xfrm>
            <a:off x="0" y="0"/>
            <a:ext cx="12191996" cy="1498061"/>
          </a:xfrm>
          <a:prstGeom prst="rect">
            <a:avLst/>
          </a:prstGeom>
          <a:solidFill>
            <a:srgbClr val="FF9900"/>
          </a:solidFill>
          <a:ln w="19046" cap="flat">
            <a:solidFill>
              <a:srgbClr val="CC79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AA8F1D2-46D7-B4DE-F92F-89A293C37F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36034"/>
            <a:ext cx="10515600" cy="1325559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Training Performance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E31224-F47E-4D14-1B11-3A86E3041F49}"/>
              </a:ext>
            </a:extLst>
          </p:cNvPr>
          <p:cNvSpPr/>
          <p:nvPr/>
        </p:nvSpPr>
        <p:spPr>
          <a:xfrm>
            <a:off x="0" y="5723065"/>
            <a:ext cx="12191996" cy="1134934"/>
          </a:xfrm>
          <a:prstGeom prst="rect">
            <a:avLst/>
          </a:prstGeom>
          <a:solidFill>
            <a:srgbClr val="FF9900"/>
          </a:solidFill>
          <a:ln w="19046" cap="flat">
            <a:solidFill>
              <a:srgbClr val="CC79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330DAC8-0B47-6AFE-8E2B-B3D897B99DBF}"/>
              </a:ext>
            </a:extLst>
          </p:cNvPr>
          <p:cNvSpPr txBox="1">
            <a:spLocks/>
          </p:cNvSpPr>
          <p:nvPr/>
        </p:nvSpPr>
        <p:spPr>
          <a:xfrm>
            <a:off x="200023" y="2083449"/>
            <a:ext cx="5748955" cy="311775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-"/>
            </a:pPr>
            <a:r>
              <a:rPr lang="en-US" sz="2600" dirty="0"/>
              <a:t>Trained efficiently on Google </a:t>
            </a:r>
            <a:r>
              <a:rPr lang="en-US" sz="2600" dirty="0" err="1"/>
              <a:t>Colab</a:t>
            </a:r>
            <a:r>
              <a:rPr lang="en-US" sz="2600" dirty="0"/>
              <a:t> GPU</a:t>
            </a:r>
          </a:p>
          <a:p>
            <a:pPr>
              <a:buFont typeface="Arial" panose="020B0604020202020204" pitchFamily="34" charset="0"/>
              <a:buChar char="-"/>
            </a:pPr>
            <a:r>
              <a:rPr lang="en-US" sz="2600" dirty="0"/>
              <a:t>Early stopping at epoch 442 (fast convergence)</a:t>
            </a:r>
          </a:p>
          <a:p>
            <a:pPr>
              <a:buFont typeface="Arial" panose="020B0604020202020204" pitchFamily="34" charset="0"/>
              <a:buChar char="-"/>
            </a:pPr>
            <a:r>
              <a:rPr lang="en-US" sz="2600" dirty="0"/>
              <a:t>Best validation NLL = -0.3259</a:t>
            </a:r>
          </a:p>
          <a:p>
            <a:pPr>
              <a:buFont typeface="Arial" panose="020B0604020202020204" pitchFamily="34" charset="0"/>
              <a:buChar char="-"/>
            </a:pPr>
            <a:r>
              <a:rPr lang="en-US" sz="2600" dirty="0"/>
              <a:t>Smooth loss curves with minimal overfitting</a:t>
            </a:r>
          </a:p>
          <a:p>
            <a:pPr>
              <a:buFont typeface="Arial" panose="020B0604020202020204" pitchFamily="34" charset="0"/>
              <a:buChar char="-"/>
            </a:pPr>
            <a:r>
              <a:rPr lang="en-US" sz="2600" dirty="0"/>
              <a:t>More stable and faster than original TF-based workflow (ANN1 time to train: ≈1 hour, this model: 1min)</a:t>
            </a:r>
          </a:p>
          <a:p>
            <a:pPr>
              <a:buFont typeface="Arial" panose="020B0604020202020204" pitchFamily="34" charset="0"/>
              <a:buChar char="-"/>
            </a:pPr>
            <a:endParaRPr lang="en-US" sz="2400" dirty="0"/>
          </a:p>
          <a:p>
            <a:pPr>
              <a:buFont typeface="Arial" panose="020B0604020202020204" pitchFamily="34" charset="0"/>
              <a:buChar char="-"/>
            </a:pPr>
            <a:endParaRPr lang="en-US" sz="2400" dirty="0"/>
          </a:p>
          <a:p>
            <a:pPr>
              <a:buFont typeface="Arial" panose="020B0604020202020204" pitchFamily="34" charset="0"/>
              <a:buChar char="-"/>
            </a:pPr>
            <a:endParaRPr lang="en-US" sz="24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E05B42D-4D59-2A34-C963-7FE032C76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9586" y="2378447"/>
            <a:ext cx="6249040" cy="2464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7899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A9A3B-17E8-2380-4D0C-4D512C5CE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6F497B2B-4E69-69B8-F8F3-C9977039E121}"/>
              </a:ext>
            </a:extLst>
          </p:cNvPr>
          <p:cNvSpPr/>
          <p:nvPr/>
        </p:nvSpPr>
        <p:spPr>
          <a:xfrm>
            <a:off x="0" y="0"/>
            <a:ext cx="12191996" cy="1498061"/>
          </a:xfrm>
          <a:prstGeom prst="rect">
            <a:avLst/>
          </a:prstGeom>
          <a:solidFill>
            <a:srgbClr val="FF9900"/>
          </a:solidFill>
          <a:ln w="19046" cap="flat">
            <a:solidFill>
              <a:srgbClr val="CC79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BB41DD4-FE77-E760-3CE2-E27138FB69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36034"/>
            <a:ext cx="10515600" cy="1325559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Variability Analysis – </a:t>
            </a:r>
            <a:r>
              <a:rPr lang="el-GR" sz="3200" dirty="0"/>
              <a:t>φ_</a:t>
            </a:r>
            <a:r>
              <a:rPr lang="en-US" sz="3200" dirty="0" err="1"/>
              <a:t>lnD</a:t>
            </a:r>
            <a:r>
              <a:rPr lang="en-US" sz="3200" dirty="0"/>
              <a:t> Trends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9BDC6E-3B55-EED0-818A-B2E99DD63D63}"/>
              </a:ext>
            </a:extLst>
          </p:cNvPr>
          <p:cNvSpPr/>
          <p:nvPr/>
        </p:nvSpPr>
        <p:spPr>
          <a:xfrm>
            <a:off x="0" y="5723065"/>
            <a:ext cx="12191996" cy="1134934"/>
          </a:xfrm>
          <a:prstGeom prst="rect">
            <a:avLst/>
          </a:prstGeom>
          <a:solidFill>
            <a:srgbClr val="FF9900"/>
          </a:solidFill>
          <a:ln w="19046" cap="flat">
            <a:solidFill>
              <a:srgbClr val="CC79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1C5F292-CE63-A245-D3C1-6A4CB56B915D}"/>
              </a:ext>
            </a:extLst>
          </p:cNvPr>
          <p:cNvSpPr txBox="1">
            <a:spLocks/>
          </p:cNvSpPr>
          <p:nvPr/>
        </p:nvSpPr>
        <p:spPr>
          <a:xfrm>
            <a:off x="85724" y="1790755"/>
            <a:ext cx="4657878" cy="37031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-"/>
            </a:pPr>
            <a:r>
              <a:rPr lang="en-US" sz="2600" dirty="0"/>
              <a:t>Computed </a:t>
            </a:r>
            <a:r>
              <a:rPr lang="el-GR" sz="2600" dirty="0"/>
              <a:t>φ </a:t>
            </a:r>
            <a:r>
              <a:rPr lang="en-US" sz="2600" dirty="0"/>
              <a:t>per slope using residuals</a:t>
            </a:r>
          </a:p>
          <a:p>
            <a:pPr>
              <a:buFont typeface="Arial" panose="020B0604020202020204" pitchFamily="34" charset="0"/>
              <a:buChar char="-"/>
            </a:pPr>
            <a:r>
              <a:rPr lang="en-US" sz="2600" dirty="0"/>
              <a:t>Trendline: </a:t>
            </a:r>
            <a:r>
              <a:rPr lang="el-GR" sz="2600" dirty="0"/>
              <a:t>φ = 0.27 – 0.137</a:t>
            </a:r>
            <a:r>
              <a:rPr lang="en-US" sz="2600" dirty="0"/>
              <a:t>ln(</a:t>
            </a:r>
            <a:r>
              <a:rPr lang="en-US" sz="2600" dirty="0" err="1"/>
              <a:t>Tslope</a:t>
            </a:r>
            <a:r>
              <a:rPr lang="en-US" sz="2600" dirty="0"/>
              <a:t>)</a:t>
            </a:r>
          </a:p>
          <a:p>
            <a:pPr>
              <a:buFont typeface="Arial" panose="020B0604020202020204" pitchFamily="34" charset="0"/>
              <a:buChar char="-"/>
            </a:pPr>
            <a:r>
              <a:rPr lang="en-US" sz="2600" dirty="0"/>
              <a:t>This matches exactly Cho et al. (2022) trendline</a:t>
            </a:r>
          </a:p>
          <a:p>
            <a:pPr>
              <a:buFont typeface="Arial" panose="020B0604020202020204" pitchFamily="34" charset="0"/>
              <a:buChar char="-"/>
            </a:pPr>
            <a:r>
              <a:rPr lang="el-GR" sz="2600" dirty="0"/>
              <a:t>φ </a:t>
            </a:r>
            <a:r>
              <a:rPr lang="en-US" sz="2600" dirty="0"/>
              <a:t>vs </a:t>
            </a:r>
            <a:r>
              <a:rPr lang="en-US" sz="2600" dirty="0" err="1"/>
              <a:t>ky</a:t>
            </a:r>
            <a:r>
              <a:rPr lang="en-US" sz="2600" dirty="0"/>
              <a:t>: mild increasing pattern (as paper)</a:t>
            </a:r>
          </a:p>
          <a:p>
            <a:pPr>
              <a:buFont typeface="Arial" panose="020B0604020202020204" pitchFamily="34" charset="0"/>
              <a:buChar char="-"/>
            </a:pPr>
            <a:r>
              <a:rPr lang="el-GR" sz="2600" dirty="0"/>
              <a:t>φ </a:t>
            </a:r>
            <a:r>
              <a:rPr lang="en-US" sz="2600" dirty="0"/>
              <a:t>vs </a:t>
            </a:r>
            <a:r>
              <a:rPr lang="en-US" sz="2600" dirty="0" err="1"/>
              <a:t>Hratio</a:t>
            </a:r>
            <a:r>
              <a:rPr lang="en-US" sz="2600" dirty="0"/>
              <a:t>: weak dependence (as paper)</a:t>
            </a:r>
          </a:p>
          <a:p>
            <a:pPr>
              <a:buFont typeface="Arial" panose="020B0604020202020204" pitchFamily="34" charset="0"/>
              <a:buChar char="-"/>
            </a:pPr>
            <a:endParaRPr lang="en-US" sz="2400" dirty="0"/>
          </a:p>
          <a:p>
            <a:pPr>
              <a:buFont typeface="Arial" panose="020B0604020202020204" pitchFamily="34" charset="0"/>
              <a:buChar char="-"/>
            </a:pPr>
            <a:endParaRPr lang="en-US" sz="2400" dirty="0"/>
          </a:p>
          <a:p>
            <a:pPr>
              <a:buFont typeface="Arial" panose="020B0604020202020204" pitchFamily="34" charset="0"/>
              <a:buChar char="-"/>
            </a:pPr>
            <a:endParaRPr lang="en-US" sz="24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FBFDEC1-9CE4-B372-5532-B2D4E8A64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3602" y="1752093"/>
            <a:ext cx="7362674" cy="1807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Fig. 10">
            <a:extLst>
              <a:ext uri="{FF2B5EF4-FFF2-40B4-BE49-F238E27FC236}">
                <a16:creationId xmlns:a16="http://schemas.microsoft.com/office/drawing/2014/main" id="{CC50A184-29BC-37CD-499E-1B269BDF02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120" y="3811319"/>
            <a:ext cx="5901423" cy="1898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48710E-917F-24B0-A17F-E3A096AA366D}"/>
              </a:ext>
            </a:extLst>
          </p:cNvPr>
          <p:cNvSpPr txBox="1"/>
          <p:nvPr/>
        </p:nvSpPr>
        <p:spPr>
          <a:xfrm>
            <a:off x="4896120" y="1491508"/>
            <a:ext cx="1276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study: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FFC075-2586-0FBB-F433-5D97B2E93B37}"/>
              </a:ext>
            </a:extLst>
          </p:cNvPr>
          <p:cNvSpPr txBox="1"/>
          <p:nvPr/>
        </p:nvSpPr>
        <p:spPr>
          <a:xfrm>
            <a:off x="4896120" y="3457663"/>
            <a:ext cx="1916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 et al. 2022: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8891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59A4E-4DF3-6734-EF79-1E9ADBBD5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550FFAE7-6D9B-BD6A-1CBA-8BCFE0351A05}"/>
              </a:ext>
            </a:extLst>
          </p:cNvPr>
          <p:cNvSpPr/>
          <p:nvPr/>
        </p:nvSpPr>
        <p:spPr>
          <a:xfrm>
            <a:off x="0" y="0"/>
            <a:ext cx="12191996" cy="1498061"/>
          </a:xfrm>
          <a:prstGeom prst="rect">
            <a:avLst/>
          </a:prstGeom>
          <a:solidFill>
            <a:srgbClr val="FF9900"/>
          </a:solidFill>
          <a:ln w="19046" cap="flat">
            <a:solidFill>
              <a:srgbClr val="CC79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7A42BB0-31AA-2283-8575-E23E8B34B0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236034"/>
            <a:ext cx="10515600" cy="1325559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Residuals and </a:t>
            </a:r>
            <a:r>
              <a:rPr lang="el-GR" sz="3200" dirty="0"/>
              <a:t>σ(</a:t>
            </a:r>
            <a:r>
              <a:rPr lang="en-US" sz="3200" dirty="0"/>
              <a:t>x) Analysis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76F4A3-2F44-0FF1-C8B0-4237B31E4843}"/>
              </a:ext>
            </a:extLst>
          </p:cNvPr>
          <p:cNvSpPr/>
          <p:nvPr/>
        </p:nvSpPr>
        <p:spPr>
          <a:xfrm>
            <a:off x="0" y="5723065"/>
            <a:ext cx="12191996" cy="1134934"/>
          </a:xfrm>
          <a:prstGeom prst="rect">
            <a:avLst/>
          </a:prstGeom>
          <a:solidFill>
            <a:srgbClr val="FF9900"/>
          </a:solidFill>
          <a:ln w="19046" cap="flat">
            <a:solidFill>
              <a:srgbClr val="CC79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DFB1879-5453-2A6F-565D-D60220216380}"/>
              </a:ext>
            </a:extLst>
          </p:cNvPr>
          <p:cNvSpPr txBox="1">
            <a:spLocks/>
          </p:cNvSpPr>
          <p:nvPr/>
        </p:nvSpPr>
        <p:spPr>
          <a:xfrm>
            <a:off x="85724" y="1790755"/>
            <a:ext cx="4657878" cy="370314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-"/>
            </a:pPr>
            <a:r>
              <a:rPr lang="en-US" sz="2600" dirty="0"/>
              <a:t>Residual R </a:t>
            </a:r>
            <a:r>
              <a:rPr lang="en-US" sz="2600" dirty="0" err="1"/>
              <a:t>ranfe</a:t>
            </a:r>
            <a:r>
              <a:rPr lang="en-US" sz="2600" dirty="0"/>
              <a:t> (-3, 3), (as in original paper)</a:t>
            </a:r>
          </a:p>
          <a:p>
            <a:pPr>
              <a:buFont typeface="Arial" panose="020B0604020202020204" pitchFamily="34" charset="0"/>
              <a:buChar char="-"/>
            </a:pPr>
            <a:r>
              <a:rPr lang="en-US" sz="2600" dirty="0"/>
              <a:t>Centered around zero: unbiased model</a:t>
            </a:r>
          </a:p>
          <a:p>
            <a:pPr>
              <a:buFont typeface="Arial" panose="020B0604020202020204" pitchFamily="34" charset="0"/>
              <a:buChar char="-"/>
            </a:pPr>
            <a:r>
              <a:rPr lang="el-GR" sz="2600" dirty="0"/>
              <a:t>σ(</a:t>
            </a:r>
            <a:r>
              <a:rPr lang="en-US" sz="2600" dirty="0"/>
              <a:t>x) increases with PGV: physically meaningful</a:t>
            </a:r>
          </a:p>
          <a:p>
            <a:pPr>
              <a:buFont typeface="Arial" panose="020B0604020202020204" pitchFamily="34" charset="0"/>
              <a:buChar char="-"/>
            </a:pPr>
            <a:r>
              <a:rPr lang="el-GR" sz="2600" dirty="0"/>
              <a:t>σ(</a:t>
            </a:r>
            <a:r>
              <a:rPr lang="en-US" sz="2600" dirty="0"/>
              <a:t>x) decreases with </a:t>
            </a:r>
            <a:r>
              <a:rPr lang="en-US" sz="2600" dirty="0" err="1"/>
              <a:t>ky</a:t>
            </a:r>
            <a:r>
              <a:rPr lang="en-US" sz="2600" dirty="0"/>
              <a:t> and </a:t>
            </a:r>
            <a:r>
              <a:rPr lang="en-US" sz="2600" dirty="0" err="1"/>
              <a:t>Tslope</a:t>
            </a:r>
            <a:r>
              <a:rPr lang="en-US" sz="2600" dirty="0"/>
              <a:t>: stiffer slopes, lower uncertainty</a:t>
            </a:r>
          </a:p>
          <a:p>
            <a:pPr>
              <a:buFont typeface="Arial" panose="020B0604020202020204" pitchFamily="34" charset="0"/>
              <a:buChar char="-"/>
            </a:pPr>
            <a:r>
              <a:rPr lang="en-US" sz="2600" dirty="0"/>
              <a:t>Heteroscedastic ANN provides uncertainty unavailable in original ANN1</a:t>
            </a:r>
          </a:p>
          <a:p>
            <a:pPr>
              <a:buFont typeface="Arial" panose="020B0604020202020204" pitchFamily="34" charset="0"/>
              <a:buChar char="-"/>
            </a:pPr>
            <a:endParaRPr lang="en-US" sz="2400" dirty="0"/>
          </a:p>
          <a:p>
            <a:pPr>
              <a:buFont typeface="Arial" panose="020B0604020202020204" pitchFamily="34" charset="0"/>
              <a:buChar char="-"/>
            </a:pPr>
            <a:endParaRPr lang="en-US" sz="2400" dirty="0"/>
          </a:p>
          <a:p>
            <a:pPr>
              <a:buFont typeface="Arial" panose="020B0604020202020204" pitchFamily="34" charset="0"/>
              <a:buChar char="-"/>
            </a:pPr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BBA676-58ED-26CC-ADD5-2AFC4BA43C6F}"/>
              </a:ext>
            </a:extLst>
          </p:cNvPr>
          <p:cNvSpPr txBox="1"/>
          <p:nvPr/>
        </p:nvSpPr>
        <p:spPr>
          <a:xfrm>
            <a:off x="4896120" y="1491508"/>
            <a:ext cx="12763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study: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374E62-C597-4F15-CC12-A711045FA4CA}"/>
              </a:ext>
            </a:extLst>
          </p:cNvPr>
          <p:cNvSpPr txBox="1"/>
          <p:nvPr/>
        </p:nvSpPr>
        <p:spPr>
          <a:xfrm>
            <a:off x="4896120" y="3457663"/>
            <a:ext cx="1916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Cho et al. 2022:</a:t>
            </a:r>
            <a:endParaRPr lang="en-GB" dirty="0"/>
          </a:p>
        </p:txBody>
      </p:sp>
      <p:pic>
        <p:nvPicPr>
          <p:cNvPr id="4098" name="Picture 2" descr="Fig. 7">
            <a:extLst>
              <a:ext uri="{FF2B5EF4-FFF2-40B4-BE49-F238E27FC236}">
                <a16:creationId xmlns:a16="http://schemas.microsoft.com/office/drawing/2014/main" id="{2123C89D-9F20-1815-F1EC-2FF14F19F2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079"/>
          <a:stretch>
            <a:fillRect/>
          </a:stretch>
        </p:blipFill>
        <p:spPr bwMode="auto">
          <a:xfrm>
            <a:off x="5248546" y="3756910"/>
            <a:ext cx="5924280" cy="1907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1F843565-5B0B-78D7-7251-CAAA49EBF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119" y="1919613"/>
            <a:ext cx="7056281" cy="1538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6DFB959E-8A3B-0AF7-FE1A-3AA8026171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117" y="1970371"/>
            <a:ext cx="7056281" cy="15380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1198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400</Words>
  <Application>Microsoft Office PowerPoint</Application>
  <PresentationFormat>Widescreen</PresentationFormat>
  <Paragraphs>53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Implementation and attempted improvement of:  “A comparison of artificial neural network and classical regression models for earthquake-induced slope displacements”</vt:lpstr>
      <vt:lpstr>Heteroscedastic ANN for Slope Displacement Prediction</vt:lpstr>
      <vt:lpstr>Key Methodological Differences</vt:lpstr>
      <vt:lpstr>Model Loss Function</vt:lpstr>
      <vt:lpstr>Training Performance</vt:lpstr>
      <vt:lpstr>Variability Analysis – φ_lnD Trends</vt:lpstr>
      <vt:lpstr>Residuals and σ(x)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Hutka, Mariglen</dc:creator>
  <cp:lastModifiedBy>Hutka, Mariglen</cp:lastModifiedBy>
  <cp:revision>2</cp:revision>
  <dcterms:created xsi:type="dcterms:W3CDTF">2025-12-12T20:24:43Z</dcterms:created>
  <dcterms:modified xsi:type="dcterms:W3CDTF">2025-12-12T22:00:58Z</dcterms:modified>
</cp:coreProperties>
</file>